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9082e826624ca7" /><Relationship Type="http://schemas.openxmlformats.org/officeDocument/2006/relationships/extended-properties" Target="/docProps/app.xml" Id="R046610e1c6394711" /><Relationship Type="http://schemas.openxmlformats.org/officeDocument/2006/relationships/officeDocument" Target="/ppt/presentation.xml" Id="Rc023e05a42a845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c84c8b72f54daa"/>
  </p:sldMasterIdLst>
  <p:notesMasterIdLst>
    <p:notesMasterId xmlns:r="http://schemas.openxmlformats.org/officeDocument/2006/relationships" r:id="R826f070cda3d46f6"/>
  </p:notesMasterIdLst>
  <p:sldIdLst>
    <p:sldId xmlns:r="http://schemas.openxmlformats.org/officeDocument/2006/relationships" id="256" r:id="R270f9519c702440e"/>
    <p:sldId xmlns:r="http://schemas.openxmlformats.org/officeDocument/2006/relationships" id="257" r:id="Ra9e9e99acb7e45d1"/>
    <p:sldId xmlns:r="http://schemas.openxmlformats.org/officeDocument/2006/relationships" id="258" r:id="R770d1ebed5f14d62"/>
    <p:sldId xmlns:r="http://schemas.openxmlformats.org/officeDocument/2006/relationships" id="259" r:id="R7bffa9539a584c95"/>
    <p:sldId xmlns:r="http://schemas.openxmlformats.org/officeDocument/2006/relationships" id="260" r:id="Rb696a0e1cf82491c"/>
    <p:sldId xmlns:r="http://schemas.openxmlformats.org/officeDocument/2006/relationships" id="261" r:id="Raea6c7216e084c0f"/>
    <p:sldId xmlns:r="http://schemas.openxmlformats.org/officeDocument/2006/relationships" id="262" r:id="R51b1ada25bbd4b32"/>
    <p:sldId xmlns:r="http://schemas.openxmlformats.org/officeDocument/2006/relationships" id="263" r:id="Ra895a447e29442ec"/>
    <p:sldId xmlns:r="http://schemas.openxmlformats.org/officeDocument/2006/relationships" id="264" r:id="R3fbd8200191242d3"/>
    <p:sldId xmlns:r="http://schemas.openxmlformats.org/officeDocument/2006/relationships" id="265" r:id="Rd4030af6aa864fdb"/>
    <p:sldId xmlns:r="http://schemas.openxmlformats.org/officeDocument/2006/relationships" id="266" r:id="Ra61fdc2a88ad407c"/>
    <p:sldId xmlns:r="http://schemas.openxmlformats.org/officeDocument/2006/relationships" id="267" r:id="R878982db75944b04"/>
    <p:sldId xmlns:r="http://schemas.openxmlformats.org/officeDocument/2006/relationships" id="268" r:id="R58dabe3cbefc4e79"/>
    <p:sldId xmlns:r="http://schemas.openxmlformats.org/officeDocument/2006/relationships" id="269" r:id="R6318607cb9244b8b"/>
    <p:sldId xmlns:r="http://schemas.openxmlformats.org/officeDocument/2006/relationships" id="270" r:id="R18ddaaf9480d43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c7810f0d7e40c4" /><Relationship Type="http://schemas.openxmlformats.org/officeDocument/2006/relationships/slideMaster" Target="/ppt/slideMasters/slideMaster1.xml" Id="Rb6c84c8b72f54daa" /><Relationship Type="http://schemas.openxmlformats.org/officeDocument/2006/relationships/notesMaster" Target="/ppt/notesMasters/notesMaster1.xml" Id="R826f070cda3d46f6" /><Relationship Type="http://schemas.openxmlformats.org/officeDocument/2006/relationships/presProps" Target="/ppt/presProps.xml" Id="Rc3587827130e416e" /><Relationship Type="http://schemas.openxmlformats.org/officeDocument/2006/relationships/tableStyles" Target="/ppt/tableStyles.xml" Id="Rc231f65742914955" /><Relationship Type="http://schemas.openxmlformats.org/officeDocument/2006/relationships/slide" Target="/ppt/slides/slide1.xml" Id="R270f9519c702440e" /><Relationship Type="http://schemas.openxmlformats.org/officeDocument/2006/relationships/slide" Target="/ppt/slides/slide2.xml" Id="Ra9e9e99acb7e45d1" /><Relationship Type="http://schemas.openxmlformats.org/officeDocument/2006/relationships/slide" Target="/ppt/slides/slide3.xml" Id="R770d1ebed5f14d62" /><Relationship Type="http://schemas.openxmlformats.org/officeDocument/2006/relationships/slide" Target="/ppt/slides/slide4.xml" Id="R7bffa9539a584c95" /><Relationship Type="http://schemas.openxmlformats.org/officeDocument/2006/relationships/slide" Target="/ppt/slides/slide5.xml" Id="Rb696a0e1cf82491c" /><Relationship Type="http://schemas.openxmlformats.org/officeDocument/2006/relationships/slide" Target="/ppt/slides/slide6.xml" Id="Raea6c7216e084c0f" /><Relationship Type="http://schemas.openxmlformats.org/officeDocument/2006/relationships/slide" Target="/ppt/slides/slide7.xml" Id="R51b1ada25bbd4b32" /><Relationship Type="http://schemas.openxmlformats.org/officeDocument/2006/relationships/slide" Target="/ppt/slides/slide8.xml" Id="Ra895a447e29442ec" /><Relationship Type="http://schemas.openxmlformats.org/officeDocument/2006/relationships/slide" Target="/ppt/slides/slide9.xml" Id="R3fbd8200191242d3" /><Relationship Type="http://schemas.openxmlformats.org/officeDocument/2006/relationships/slide" Target="/ppt/slides/slide10.xml" Id="Rd4030af6aa864fdb" /><Relationship Type="http://schemas.openxmlformats.org/officeDocument/2006/relationships/slide" Target="/ppt/slides/slide11.xml" Id="Ra61fdc2a88ad407c" /><Relationship Type="http://schemas.openxmlformats.org/officeDocument/2006/relationships/slide" Target="/ppt/slides/slide12.xml" Id="R878982db75944b04" /><Relationship Type="http://schemas.openxmlformats.org/officeDocument/2006/relationships/slide" Target="/ppt/slides/slide13.xml" Id="R58dabe3cbefc4e79" /><Relationship Type="http://schemas.openxmlformats.org/officeDocument/2006/relationships/slide" Target="/ppt/slides/slide14.xml" Id="R6318607cb9244b8b" /><Relationship Type="http://schemas.openxmlformats.org/officeDocument/2006/relationships/slide" Target="/ppt/slides/slide15.xml" Id="R18ddaaf9480d43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d6c5cf6dc845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a79392f8e3463d" /><Relationship Type="http://schemas.openxmlformats.org/officeDocument/2006/relationships/notesMaster" Target="/ppt/notesMasters/notesMaster1.xml" Id="R3094bc9797f34a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4a0620008a4574" /><Relationship Type="http://schemas.openxmlformats.org/officeDocument/2006/relationships/notesMaster" Target="/ppt/notesMasters/notesMaster1.xml" Id="Rffab2a6f7ed14b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bff2971b5c4fcb" /><Relationship Type="http://schemas.openxmlformats.org/officeDocument/2006/relationships/notesMaster" Target="/ppt/notesMasters/notesMaster1.xml" Id="Rb448d82fd3594f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200ed1fc3c4e84" /><Relationship Type="http://schemas.openxmlformats.org/officeDocument/2006/relationships/notesMaster" Target="/ppt/notesMasters/notesMaster1.xml" Id="Ra826d19a53c244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76c7a2a0ac4165" /><Relationship Type="http://schemas.openxmlformats.org/officeDocument/2006/relationships/notesMaster" Target="/ppt/notesMasters/notesMaster1.xml" Id="R52af3c7ac46947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629482e2964f76" /><Relationship Type="http://schemas.openxmlformats.org/officeDocument/2006/relationships/notesMaster" Target="/ppt/notesMasters/notesMaster1.xml" Id="R73cf75d91c514d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b4a20113844f5f" /><Relationship Type="http://schemas.openxmlformats.org/officeDocument/2006/relationships/notesMaster" Target="/ppt/notesMasters/notesMaster1.xml" Id="R375a7a5fef784d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f99e51c2c74453" /><Relationship Type="http://schemas.openxmlformats.org/officeDocument/2006/relationships/notesMaster" Target="/ppt/notesMasters/notesMaster1.xml" Id="Rf90a60a683d145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da3737b56a41e6" /><Relationship Type="http://schemas.openxmlformats.org/officeDocument/2006/relationships/notesMaster" Target="/ppt/notesMasters/notesMaster1.xml" Id="Rd4439b9f2ac749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748be5323a480f" /><Relationship Type="http://schemas.openxmlformats.org/officeDocument/2006/relationships/notesMaster" Target="/ppt/notesMasters/notesMaster1.xml" Id="Rb6ea7791bf1d4b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f7f264a23749d8" /><Relationship Type="http://schemas.openxmlformats.org/officeDocument/2006/relationships/notesMaster" Target="/ppt/notesMasters/notesMaster1.xml" Id="R860da99c9e824b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20d2dceada4307" /><Relationship Type="http://schemas.openxmlformats.org/officeDocument/2006/relationships/notesMaster" Target="/ppt/notesMasters/notesMaster1.xml" Id="R76b926ec97c04c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ce2795a6014603" /><Relationship Type="http://schemas.openxmlformats.org/officeDocument/2006/relationships/notesMaster" Target="/ppt/notesMasters/notesMaster1.xml" Id="Ra4dd1143c9ba46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d07fba54804799" /><Relationship Type="http://schemas.openxmlformats.org/officeDocument/2006/relationships/notesMaster" Target="/ppt/notesMasters/notesMaster1.xml" Id="Re991e458b7ae44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b7a8a0cf274c16" /><Relationship Type="http://schemas.openxmlformats.org/officeDocument/2006/relationships/notesMaster" Target="/ppt/notesMasters/notesMaster1.xml" Id="R2c7f2a40a50444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72f36aa4448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5541edace14627" /><Relationship Type="http://schemas.openxmlformats.org/officeDocument/2006/relationships/slideLayout" Target="/ppt/slideLayouts/slideLayout1.xml" Id="Re1d1b097908e41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d1b097908e41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d8cbbcaa04e96" /><Relationship Type="http://schemas.openxmlformats.org/officeDocument/2006/relationships/image" Target="/ppt/media/image.jpeg" Id="R5f0ff0001ab64611" /><Relationship Type="http://schemas.openxmlformats.org/officeDocument/2006/relationships/notesSlide" Target="/ppt/notesSlides/notesSlide1.xml" Id="R3fb5b154ebc144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37681e234438f" /><Relationship Type="http://schemas.openxmlformats.org/officeDocument/2006/relationships/notesSlide" Target="/ppt/notesSlides/notesSlide2.xml" Id="R4b9be97c84e344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44cb8cf534d1d" /><Relationship Type="http://schemas.openxmlformats.org/officeDocument/2006/relationships/image" Target="/ppt/media/image.png" Id="Rea75388c67da45e1" /><Relationship Type="http://schemas.openxmlformats.org/officeDocument/2006/relationships/notesSlide" Target="/ppt/notesSlides/notesSlide3.xml" Id="R751be7d833f04f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9c9d7c3a94eaa" /><Relationship Type="http://schemas.openxmlformats.org/officeDocument/2006/relationships/image" Target="/ppt/media/image2.jpeg" Id="Ra86283fb310d4601" /><Relationship Type="http://schemas.openxmlformats.org/officeDocument/2006/relationships/notesSlide" Target="/ppt/notesSlides/notesSlide4.xml" Id="R246b9f51cb6f46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3a435dc6a40a0" /><Relationship Type="http://schemas.openxmlformats.org/officeDocument/2006/relationships/notesSlide" Target="/ppt/notesSlides/notesSlide5.xml" Id="R6f15441b9b814a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596acd94e4555" /><Relationship Type="http://schemas.openxmlformats.org/officeDocument/2006/relationships/notesSlide" Target="/ppt/notesSlides/notesSlide6.xml" Id="R5291c518c57c46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5ce2bef9e43dd" /><Relationship Type="http://schemas.openxmlformats.org/officeDocument/2006/relationships/image" Target="/ppt/media/image3.jpeg" Id="Rc135cfe730e54a89" /><Relationship Type="http://schemas.openxmlformats.org/officeDocument/2006/relationships/notesSlide" Target="/ppt/notesSlides/notesSlide7.xml" Id="Rf603df99ca9e47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2674dc08347a8" /><Relationship Type="http://schemas.openxmlformats.org/officeDocument/2006/relationships/notesSlide" Target="/ppt/notesSlides/notesSlide8.xml" Id="R63b8e12d833b44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be23fed554d5b" /><Relationship Type="http://schemas.openxmlformats.org/officeDocument/2006/relationships/notesSlide" Target="/ppt/notesSlides/notesSlide9.xml" Id="Rc4c7e88f921b40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3b6d6a1b145a6" /><Relationship Type="http://schemas.openxmlformats.org/officeDocument/2006/relationships/notesSlide" Target="/ppt/notesSlides/notesSlide10.xml" Id="R2d760468c02344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e412edd8a4a2c" /><Relationship Type="http://schemas.openxmlformats.org/officeDocument/2006/relationships/notesSlide" Target="/ppt/notesSlides/notesSlide11.xml" Id="R26ba16c58cac44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e5367ff5342fd" /><Relationship Type="http://schemas.openxmlformats.org/officeDocument/2006/relationships/notesSlide" Target="/ppt/notesSlides/notesSlide12.xml" Id="Rbdcdbd8480034c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cf802e71a42c0" /><Relationship Type="http://schemas.openxmlformats.org/officeDocument/2006/relationships/notesSlide" Target="/ppt/notesSlides/notesSlide13.xml" Id="Re11aa2adb72b4c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8ab10fb8f4dbf" /><Relationship Type="http://schemas.openxmlformats.org/officeDocument/2006/relationships/notesSlide" Target="/ppt/notesSlides/notesSlide14.xml" Id="Rb3ff2d129b894d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137236cf94122" /><Relationship Type="http://schemas.openxmlformats.org/officeDocument/2006/relationships/notesSlide" Target="/ppt/notesSlides/notesSlide15.xml" Id="R45051fe8313c46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E0DD43-0C1A-4902-8787-6F7D0588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F49"/>
          </a:solidFill>
          <a:ln xmlns:a="http://schemas.openxmlformats.org/drawingml/2006/main" w="0">
            <a:solidFill>
              <a:srgbClr val="083F4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D175F-7B98-466F-8EC0-11ABA6F8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FE8E2"/>
                </a:solidFill>
              </a:defRPr>
            </a:pPr>
            <a:r>
              <a:rPr sz="1350" b="1">
                <a:solidFill>
                  <a:srgbClr val="7FE8E2"/>
                </a:solidFill>
              </a:rPr>
              <a:t>SI-KP FARMASI UBP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D9035-96B1-4B8B-A241-7F32FDC1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Alur Mahasiswa Kerja Praktek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425EE-92DC-4C7A-82EE-AC6A9338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E7F0"/>
                </a:solidFill>
              </a:defRPr>
            </a:pPr>
            <a:r>
              <a:rPr sz="1650" b="0">
                <a:solidFill>
                  <a:srgbClr val="D5E7F0"/>
                </a:solidFill>
              </a:rPr>
              <a:t>Panduan presentasi untuk memahami perjalanan mahasiswa dari login sampai nilai akhir.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5F49B-109F-4E1D-8AF1-55255932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066800"/>
            <a:ext cx="51054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ff0001ab64611"/>
          <a:srcRect xmlns:a="http://schemas.openxmlformats.org/drawingml/2006/main" l="5655" t="0" r="56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1430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0FB75-9830-4A4B-BC1E-6B0F26BA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7F0"/>
                </a:solidFill>
              </a:defRPr>
            </a:pPr>
            <a:r>
              <a:rPr sz="1500" b="0">
                <a:solidFill>
                  <a:srgbClr val="D5E7F0"/>
                </a:solidFill>
              </a:rPr>
              <a:t>Fokus: login, profil, pendaftaran, berkas, pemilihan tempat, penempatan, logbook, laporan, sidang, dan nilai.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E99E9-9A81-4323-93BB-4E07683B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01</a:t>
            </a:r>
          </a:p>
        </p:txBody>
      </p:sp>
    </p:spTree>
    <p:extLst>
      <p:ext uri="{BB962C8B-B14F-4D97-AF65-F5344CB8AC3E}">
        <p14:creationId xmlns:p14="http://schemas.microsoft.com/office/powerpoint/2010/main" val="1634232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040DF0-ABAC-41F2-8998-CC77C452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63A92-4F7C-4727-861B-D8B7AC8F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Mahasiswa bergerak lewat satu alur kerja yang berurutan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2804A-3089-4047-A73D-AE7AC34E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D34B9-40AC-4804-B26B-D9CA8DE6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2668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8596"/>
          </a:solidFill>
          <a:ln xmlns:a="http://schemas.openxmlformats.org/drawingml/2006/main" w="9525">
            <a:solidFill>
              <a:srgbClr val="00859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FD6EB-148B-410C-B9B1-0E46A089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38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A60AB-F79B-434C-906F-90D55DFE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733550"/>
            <a:ext cx="12668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0B5DF-07DD-45EA-9088-E808BA60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905000"/>
            <a:ext cx="1038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26"/>
                </a:solidFill>
              </a:defRPr>
            </a:pPr>
            <a:r>
              <a:rPr sz="1200" b="1">
                <a:solidFill>
                  <a:srgbClr val="071026"/>
                </a:solidFill>
              </a:rPr>
              <a:t>Profil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FA4F8-619E-4141-AD22-EB7E5F3B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12668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85C64-DEED-40E8-9A6F-0EC42252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5000"/>
            <a:ext cx="1038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26"/>
                </a:solidFill>
              </a:defRPr>
            </a:pPr>
            <a:r>
              <a:rPr sz="1200" b="1">
                <a:solidFill>
                  <a:srgbClr val="071026"/>
                </a:solidFill>
              </a:rPr>
              <a:t>Daftar KP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778A2-67DA-4C5C-9328-1CF10169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733550"/>
            <a:ext cx="12668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44F0D-836C-4142-A214-E5E3FD4B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905000"/>
            <a:ext cx="1038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26"/>
                </a:solidFill>
              </a:defRPr>
            </a:pPr>
            <a:r>
              <a:rPr sz="1200" b="1">
                <a:solidFill>
                  <a:srgbClr val="071026"/>
                </a:solidFill>
              </a:rPr>
              <a:t>Berkas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B5B91-2E69-447B-A73C-D3D98055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12668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FF5E0-0480-45D5-AC81-DC430C2E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05000"/>
            <a:ext cx="1038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26"/>
                </a:solidFill>
              </a:defRPr>
            </a:pPr>
            <a:r>
              <a:rPr sz="1200" b="1">
                <a:solidFill>
                  <a:srgbClr val="071026"/>
                </a:solidFill>
              </a:rPr>
              <a:t>Pilih Tempat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51A79-AF66-4728-B4D5-F905BC97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733550"/>
            <a:ext cx="12668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BA32-69BA-4B75-8F80-4F49BA89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905000"/>
            <a:ext cx="1038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26"/>
                </a:solidFill>
              </a:defRPr>
            </a:pPr>
            <a:r>
              <a:rPr sz="1200" b="1">
                <a:solidFill>
                  <a:srgbClr val="071026"/>
                </a:solidFill>
              </a:rPr>
              <a:t>Bimbingan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60D10-751F-4380-AD9D-31D70D15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33550"/>
            <a:ext cx="12668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67243-A1EA-430D-92B2-16A3F2D3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05000"/>
            <a:ext cx="1038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26"/>
                </a:solidFill>
              </a:defRPr>
            </a:pPr>
            <a:r>
              <a:rPr sz="1200" b="1">
                <a:solidFill>
                  <a:srgbClr val="071026"/>
                </a:solidFill>
              </a:rPr>
              <a:t>Sidang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2405E-AA68-48AC-9936-11590A8A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733550"/>
            <a:ext cx="12668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9CDFE-EB53-49F3-A2FE-CDA1B3CB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905000"/>
            <a:ext cx="1038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26"/>
                </a:solidFill>
              </a:defRPr>
            </a:pPr>
            <a:r>
              <a:rPr sz="1200" b="1">
                <a:solidFill>
                  <a:srgbClr val="071026"/>
                </a:solidFill>
              </a:rPr>
              <a:t>Nilai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96AE9-9FBA-4335-8C69-E71E5E87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1026"/>
                </a:solidFill>
              </a:defRPr>
            </a:pPr>
            <a:r>
              <a:rPr sz="1800" b="0">
                <a:solidFill>
                  <a:srgbClr val="071026"/>
                </a:solidFill>
              </a:rPr>
              <a:t>Alur ini membantu mahasiswa tahu apa yang harus dilakukan, sementara koordinator dan pembimbing dapat memantau status pada setiap tahap.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BFD04-B57A-4C69-8E00-F05C99E3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2B4540-E7EA-416A-8FC3-4DD82CCC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25C09-E398-4414-9542-15B0E313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95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E8977-AA23-42B1-9A28-0EF163F6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Akses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729A9-17E7-4A6D-A7AA-36B3CC2B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84"/>
                </a:solidFill>
              </a:defRPr>
            </a:pPr>
            <a:r>
              <a:rPr sz="1275" b="0">
                <a:solidFill>
                  <a:srgbClr val="536784"/>
                </a:solidFill>
              </a:rPr>
              <a:t>Mahasiswa masuk dengan akun yang valid dan role mahasiswa aktif.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EBC218-0176-405F-9057-9530409B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243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337B81-164E-43BA-ABF6-2887025D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3385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B72"/>
          </a:solidFill>
          <a:ln xmlns:a="http://schemas.openxmlformats.org/drawingml/2006/main" w="0">
            <a:solidFill>
              <a:srgbClr val="0D9B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06EDC-36CB-4228-BFC5-4961DB11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195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CEAEFE-9EF7-4627-B3EB-258BD0DE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291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Validasi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1B01B6-BA64-46AB-88DB-1B845896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04825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84"/>
                </a:solidFill>
              </a:defRPr>
            </a:pPr>
            <a:r>
              <a:rPr sz="1275" b="0">
                <a:solidFill>
                  <a:srgbClr val="536784"/>
                </a:solidFill>
              </a:rPr>
              <a:t>Syarat pendaftaran dan berkas menentukan apakah mahasiswa bisa lanjut.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F47081-E4AD-4FF4-93DB-81C86889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243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F5E863-7973-4BD4-8D95-3D497BB2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3385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430AB1-AC39-4FD7-B13C-9401D0C6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195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EC3BFE-FFE8-4E1D-8807-0D8566EF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Pelaksanaan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AA16D0-E3AA-48DC-946E-484391FE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4825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84"/>
                </a:solidFill>
              </a:defRPr>
            </a:pPr>
            <a:r>
              <a:rPr sz="1275" b="0">
                <a:solidFill>
                  <a:srgbClr val="536784"/>
                </a:solidFill>
              </a:rPr>
              <a:t>Pemilihan tempat, logbook, laporan, sidang, dan nilai mengikuti status akademik.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8AA461-E380-4CC8-9BD9-E88E2BB2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02</a:t>
            </a:r>
          </a:p>
        </p:txBody>
      </p:sp>
    </p:spTree>
    <p:extLst>
      <p:ext uri="{BB962C8B-B14F-4D97-AF65-F5344CB8AC3E}">
        <p14:creationId xmlns:p14="http://schemas.microsoft.com/office/powerpoint/2010/main" val="1116895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4A3A20-B471-4CD7-8CC0-CCAA8CF3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DEA07-1206-47EB-A430-2C733918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Login memastikan akses mahasiswa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6B4AD-7ED2-47E6-BE34-097E7D19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23F11-B36C-451C-A936-1DC32C57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6724650" cy="40576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5388c67da45e1"/>
          <a:stretch xmlns:a="http://schemas.openxmlformats.org/drawingml/2006/main"/>
        </p:blipFill>
        <p:spPr>
          <a:xfrm xmlns:a="http://schemas.openxmlformats.org/drawingml/2006/main">
            <a:off x="609600" y="1916493"/>
            <a:ext cx="6572250" cy="3234564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6F403-6D7A-4AEC-966C-0FB4ED92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76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Yang perlu dipastikan saat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9B1E7-E0D7-4484-998F-759EC14E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43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0382D-9F1E-4982-93E7-E81D5DF6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26"/>
                </a:solidFill>
              </a:defRPr>
            </a:pPr>
            <a:r>
              <a:rPr sz="1350" b="0">
                <a:solidFill>
                  <a:srgbClr val="071026"/>
                </a:solidFill>
              </a:rPr>
              <a:t>Email dan kata sandi menggunakan akun yang sudah aktif.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FCC52-D8CA-4D0D-832D-7365B183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A7316-7E14-42BD-88F4-F82DFBEA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26"/>
                </a:solidFill>
              </a:defRPr>
            </a:pPr>
            <a:r>
              <a:rPr sz="1350" b="0">
                <a:solidFill>
                  <a:srgbClr val="071026"/>
                </a:solidFill>
              </a:rPr>
              <a:t>Role mahasiswa harus tersedia agar menu mahasiswa muncul.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71120-920E-4399-8F87-28DA429D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14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C3167-4241-4845-83EB-8A984681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385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26"/>
                </a:solidFill>
              </a:defRPr>
            </a:pPr>
            <a:r>
              <a:rPr sz="1350" b="0">
                <a:solidFill>
                  <a:srgbClr val="071026"/>
                </a:solidFill>
              </a:rPr>
              <a:t>Fitur tampil/sembunyikan password membantu pengguna mengurangi salah ketik.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79323-52D7-4E11-8514-3726D38E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00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7B3E8-4551-4406-8942-205001E3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24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26"/>
                </a:solidFill>
              </a:defRPr>
            </a:pPr>
            <a:r>
              <a:rPr sz="1350" b="0">
                <a:solidFill>
                  <a:srgbClr val="071026"/>
                </a:solidFill>
              </a:rPr>
              <a:t>Jika user punya lebih dari satu role, sistem menampilkan halaman pilih role.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38D74-6818-4DF7-8D83-44F941D4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03</a:t>
            </a:r>
          </a:p>
        </p:txBody>
      </p:sp>
    </p:spTree>
    <p:extLst>
      <p:ext uri="{BB962C8B-B14F-4D97-AF65-F5344CB8AC3E}">
        <p14:creationId xmlns:p14="http://schemas.microsoft.com/office/powerpoint/2010/main" val="1979817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67042C-8538-42A7-B6E3-9739194A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53D76-837D-4678-B347-1380F15D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Dashboard memberi gambaran pekerjaan yang perlu diselesaikan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862E0-336D-43B9-84C3-FE8E412F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D2FF9-B5C9-43AE-B745-2BE166B2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7010400" cy="3867150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283fb310d4601"/>
          <a:srcRect xmlns:a="http://schemas.openxmlformats.org/drawingml/2006/main" l="0" t="1881" r="0" b="1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600200"/>
            <a:ext cx="685800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FD0C9-2090-4014-BE88-D85FD4EA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Cara membaca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CAC0E-AAE1-4A04-8296-898C4521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A29D5-D79C-4ACE-9F19-BC9B8E2F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26"/>
                </a:solidFill>
              </a:defRPr>
            </a:pPr>
            <a:r>
              <a:rPr sz="1350" b="0">
                <a:solidFill>
                  <a:srgbClr val="071026"/>
                </a:solidFill>
              </a:rPr>
              <a:t>Menu kiri menjadi daftar modul mahasiswa.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F7C28-3E2B-4CF7-8D7C-6BECCDFA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7DF30-D3A5-4098-BB94-DD4F0840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26"/>
                </a:solidFill>
              </a:defRPr>
            </a:pPr>
            <a:r>
              <a:rPr sz="1350" b="0">
                <a:solidFill>
                  <a:srgbClr val="071026"/>
                </a:solidFill>
              </a:rPr>
              <a:t>Kartu status menunjukkan kondisi akun dan progres akademik.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C8E11-AF8B-4CE8-8796-23F8D5AF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86441-0FCA-402E-9FC2-938C7631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26"/>
                </a:solidFill>
              </a:defRPr>
            </a:pPr>
            <a:r>
              <a:rPr sz="1350" b="0">
                <a:solidFill>
                  <a:srgbClr val="071026"/>
                </a:solidFill>
              </a:rPr>
              <a:t>Tombol profil dan buka modul mempercepat navigasi.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CA6D0-85FE-487A-B21C-AFA5378F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A384A-C808-4361-8EF4-BCAC3B87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26"/>
                </a:solidFill>
              </a:defRPr>
            </a:pPr>
            <a:r>
              <a:rPr sz="1350" b="0">
                <a:solidFill>
                  <a:srgbClr val="071026"/>
                </a:solidFill>
              </a:rPr>
              <a:t>Dashboard cocok dipakai sebagai titik awal setiap sesi.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1AD11-35EF-4166-BDFC-45D99C10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04</a:t>
            </a:r>
          </a:p>
        </p:txBody>
      </p:sp>
    </p:spTree>
    <p:extLst>
      <p:ext uri="{BB962C8B-B14F-4D97-AF65-F5344CB8AC3E}">
        <p14:creationId xmlns:p14="http://schemas.microsoft.com/office/powerpoint/2010/main" val="1029899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EDC35C-8559-4947-8DC7-8D32D749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753F7-5DC1-4AA9-A6F9-C85A0504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Profil akademik perlu lengkap sebelum mahasiswa melanjutkan proses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F9B78-7425-4E28-A7AC-921FBA3D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7E989-9015-4BC8-92DF-6B409ADE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1026"/>
                </a:solidFill>
              </a:defRPr>
            </a:pPr>
            <a:r>
              <a:rPr sz="1800" b="0">
                <a:solidFill>
                  <a:srgbClr val="071026"/>
                </a:solidFill>
              </a:rPr>
              <a:t>Data yang sama dengan Core cukup dibaca dari Core. Data khusus KP hanya diisi bila memang diperlukan untuk workflow KP.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81C00-1D72-4490-8E87-FDDC07D4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39D4F-743A-4D43-8BDA-7962D97B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CEC04-4835-41D3-9C21-541C18D4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580E1-169E-472D-9B69-544D7F44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Data resmi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61A48-3613-47EB-B36F-5FD71098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84"/>
                </a:solidFill>
              </a:defRPr>
            </a:pPr>
            <a:r>
              <a:rPr sz="1275" b="0">
                <a:solidFill>
                  <a:srgbClr val="536784"/>
                </a:solidFill>
              </a:rPr>
              <a:t>Nama, email, NIM, prodi, dan status akun menjadi identitas utama.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B90A9-A45B-49EA-AEAF-88D84785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C0F5C-E0D8-41F3-9E76-15AF2C0E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845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B72"/>
          </a:solidFill>
          <a:ln xmlns:a="http://schemas.openxmlformats.org/drawingml/2006/main" w="0">
            <a:solidFill>
              <a:srgbClr val="0D9B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4D81E-B88F-43B9-802C-32ACA998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241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C67D7-ADAF-42A8-B987-927E099F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Data operasional KP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8B12B-6F30-444C-A802-605F5BA7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84"/>
                </a:solidFill>
              </a:defRPr>
            </a:pPr>
            <a:r>
              <a:rPr sz="1275" b="0">
                <a:solidFill>
                  <a:srgbClr val="536784"/>
                </a:solidFill>
              </a:rPr>
              <a:t>Nomor telepon aktif atau informasi tambahan dapat dipakai untuk komunikasi KP.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9F0ED-41BC-4D6F-BFA8-06D93479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07D64-AC5C-4AB3-AF4E-BEB39851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4DFBD-1908-41B4-B119-EAEEFE0A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241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C9150-ACAD-44E4-9A34-5B5BF27D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Foto profil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A1FC2-23C5-42FC-9A14-E74AF68D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84"/>
                </a:solidFill>
              </a:defRPr>
            </a:pPr>
            <a:r>
              <a:rPr sz="1275" b="0">
                <a:solidFill>
                  <a:srgbClr val="536784"/>
                </a:solidFill>
              </a:rPr>
              <a:t>Foto membantu koordinator dan pembimbing mengenali mahasiswa di dashboard dan daftar.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5A8FA-B505-49AA-9D79-60C131A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86300"/>
            <a:ext cx="9029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8FBF6"/>
          </a:solidFill>
          <a:ln xmlns:a="http://schemas.openxmlformats.org/drawingml/2006/main" w="9525">
            <a:solidFill>
              <a:srgbClr val="A7E7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37EE7-8CE5-4501-A6A7-0EC730C0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33950"/>
            <a:ext cx="842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9B72"/>
                </a:solidFill>
              </a:defRPr>
            </a:pPr>
            <a:r>
              <a:rPr sz="1650" b="1">
                <a:solidFill>
                  <a:srgbClr val="0D9B72"/>
                </a:solidFill>
              </a:rPr>
              <a:t>Prinsipnya: Core menjadi sumber data identitas, KP menyimpan kebutuhan operasional kerja praktek.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6585F-F5A6-4D24-8956-EC269283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05</a:t>
            </a:r>
          </a:p>
        </p:txBody>
      </p:sp>
    </p:spTree>
    <p:extLst>
      <p:ext uri="{BB962C8B-B14F-4D97-AF65-F5344CB8AC3E}">
        <p14:creationId xmlns:p14="http://schemas.microsoft.com/office/powerpoint/2010/main" val="14425101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4F00F1-89F6-461B-8D41-312B6148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06FDF-51F1-4F70-9898-F60AB490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Pendaftaran KP mengaktifkan mahasiswa pada periode yang dibuka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726AB-549A-4126-9C84-9BF72E9D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72C94-0C42-4B40-A299-327251DE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1026"/>
                </a:solidFill>
              </a:defRPr>
            </a:pPr>
            <a:r>
              <a:rPr sz="1725" b="0">
                <a:solidFill>
                  <a:srgbClr val="071026"/>
                </a:solidFill>
              </a:rPr>
              <a:t>Mahasiswa memilih periode aktif, mengisi data yang diminta, lalu status pendaftaran mulai terbentuk. Tahap ini menjadi dasar untuk berkas dan verifikasi.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BC075-CA7C-49CC-B43A-CB165290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99644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8596"/>
          </a:solidFill>
          <a:ln xmlns:a="http://schemas.openxmlformats.org/drawingml/2006/main" w="9525">
            <a:solidFill>
              <a:srgbClr val="00859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90B55-AC9F-4274-ACED-20648B05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17678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Pilih periode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98201-B161-43FF-ABBA-D9C3319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2724150"/>
            <a:ext cx="199644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17753-5001-4966-93C1-38F4F1D4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2895600"/>
            <a:ext cx="17678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26"/>
                </a:solidFill>
              </a:defRPr>
            </a:pPr>
            <a:r>
              <a:rPr sz="1200" b="1">
                <a:solidFill>
                  <a:srgbClr val="071026"/>
                </a:solidFill>
              </a:rPr>
              <a:t>Isi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04221-D4D2-47CD-B0F5-D5E4939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724150"/>
            <a:ext cx="199644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44010-C799-4C60-A807-19429D6C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95600"/>
            <a:ext cx="17678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26"/>
                </a:solidFill>
              </a:defRPr>
            </a:pPr>
            <a:r>
              <a:rPr sz="1200" b="1">
                <a:solidFill>
                  <a:srgbClr val="071026"/>
                </a:solidFill>
              </a:rPr>
              <a:t>Simpan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4705D-E7C7-45D6-8420-90045148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2724150"/>
            <a:ext cx="199644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0B57C-26BD-47FE-8268-ACACF65B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2895600"/>
            <a:ext cx="17678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26"/>
                </a:solidFill>
              </a:defRPr>
            </a:pPr>
            <a:r>
              <a:rPr sz="1200" b="1">
                <a:solidFill>
                  <a:srgbClr val="071026"/>
                </a:solidFill>
              </a:rPr>
              <a:t>Cek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88AF5-0122-4DD9-8C38-8865C040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2724150"/>
            <a:ext cx="199644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E286B-C44F-4E15-BBA5-906BD381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2895600"/>
            <a:ext cx="17678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26"/>
                </a:solidFill>
              </a:defRPr>
            </a:pPr>
            <a:r>
              <a:rPr sz="1200" b="1">
                <a:solidFill>
                  <a:srgbClr val="071026"/>
                </a:solidFill>
              </a:rPr>
              <a:t>Menunggu verifikasi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F99A5-72D3-4432-8251-81C1A766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B72"/>
          </a:solidFill>
          <a:ln xmlns:a="http://schemas.openxmlformats.org/drawingml/2006/main" w="0">
            <a:solidFill>
              <a:srgbClr val="0D9B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2B828-25A2-4451-963D-DED2127F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859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026"/>
                </a:solidFill>
              </a:defRPr>
            </a:pPr>
            <a:r>
              <a:rPr sz="1650" b="0">
                <a:solidFill>
                  <a:srgbClr val="071026"/>
                </a:solidFill>
              </a:rPr>
              <a:t>Pendaftaran hanya berjalan pada periode yang dibuka koordinator.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437AB-4761-4C95-BBE5-F97EAF31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B72"/>
          </a:solidFill>
          <a:ln xmlns:a="http://schemas.openxmlformats.org/drawingml/2006/main" w="0">
            <a:solidFill>
              <a:srgbClr val="0D9B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C697C-3CEC-4BB6-9879-E7A22A7A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859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026"/>
                </a:solidFill>
              </a:defRPr>
            </a:pPr>
            <a:r>
              <a:rPr sz="1650" b="0">
                <a:solidFill>
                  <a:srgbClr val="071026"/>
                </a:solidFill>
              </a:rPr>
              <a:t>Status awal dapat berupa draft sebelum seluruh syarat terpenuhi.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C5715-F344-4C41-BCA2-F8C4F339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B72"/>
          </a:solidFill>
          <a:ln xmlns:a="http://schemas.openxmlformats.org/drawingml/2006/main" w="0">
            <a:solidFill>
              <a:srgbClr val="0D9B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ED865-09F4-416F-89F1-A278835C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859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026"/>
                </a:solidFill>
              </a:defRPr>
            </a:pPr>
            <a:r>
              <a:rPr sz="1650" b="0">
                <a:solidFill>
                  <a:srgbClr val="071026"/>
                </a:solidFill>
              </a:rPr>
              <a:t>Nomor pendaftaran membantu admin melacak mahasiswa saat verifikasi.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5F1C4-7146-4B9B-B5F9-5C10AB34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06</a:t>
            </a:r>
          </a:p>
        </p:txBody>
      </p:sp>
    </p:spTree>
    <p:extLst>
      <p:ext uri="{BB962C8B-B14F-4D97-AF65-F5344CB8AC3E}">
        <p14:creationId xmlns:p14="http://schemas.microsoft.com/office/powerpoint/2010/main" val="1918925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497E2-2E31-4D43-9C9C-5AD2AAF0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B1254-7184-478E-B793-B2CD2358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Berkas KP menjadi syarat utama sebelum mahasiswa diverifikasi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C17CC-26A4-4FE0-B8BF-507D0E1B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4FC77-88C6-4154-AFC1-EF91A253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3105150" cy="4248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5cfe730e54a89"/>
          <a:stretch xmlns:a="http://schemas.openxmlformats.org/drawingml/2006/main"/>
        </p:blipFill>
        <p:spPr>
          <a:xfrm xmlns:a="http://schemas.openxmlformats.org/drawingml/2006/main">
            <a:off x="838200" y="1818151"/>
            <a:ext cx="2952750" cy="3736049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360BF-6047-4CD8-BF2D-2F26D71F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026"/>
                </a:solidFill>
              </a:defRPr>
            </a:pPr>
            <a:r>
              <a:rPr sz="1950" b="1">
                <a:solidFill>
                  <a:srgbClr val="071026"/>
                </a:solidFill>
              </a:rPr>
              <a:t>Makna status berkas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4F300-3EE0-4C94-80BE-C458CDE3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A394"/>
          </a:solidFill>
          <a:ln xmlns:a="http://schemas.openxmlformats.org/drawingml/2006/main" w="0">
            <a:solidFill>
              <a:srgbClr val="0AA3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0F286-F586-4122-8D30-7B83C1CD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592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Draft berarti mahasiswa masih melengkapi dokumen.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D258F-DA10-4C30-8D5B-BCB72D05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A394"/>
          </a:solidFill>
          <a:ln xmlns:a="http://schemas.openxmlformats.org/drawingml/2006/main" w="0">
            <a:solidFill>
              <a:srgbClr val="0AA39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759BA-FEF4-4C30-B034-475DAD9F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71800"/>
            <a:ext cx="592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Disetujui berarti dokumen sudah valid untuk syarat tersebut.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BC442-AABB-4A72-88BC-0C3A2154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A394"/>
          </a:solidFill>
          <a:ln xmlns:a="http://schemas.openxmlformats.org/drawingml/2006/main" w="0">
            <a:solidFill>
              <a:srgbClr val="0AA39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3C98C-D337-43C0-AB2C-67FD99D2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00450"/>
            <a:ext cx="592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Revisi berarti mahasiswa harus upload ulang sesuai catatan.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59527-D972-4F22-9B75-759F0C4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A394"/>
          </a:solidFill>
          <a:ln xmlns:a="http://schemas.openxmlformats.org/drawingml/2006/main" w="0">
            <a:solidFill>
              <a:srgbClr val="0AA39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D56F9-6C65-4544-BD13-DD2FAC2A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29100"/>
            <a:ext cx="592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Progress 100% belum selalu berarti pendaftaran final, karena masih perlu aksi verifikasi.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8810E-FB8C-4F8F-B4BF-03BA7BD5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07</a:t>
            </a:r>
          </a:p>
        </p:txBody>
      </p:sp>
    </p:spTree>
    <p:extLst>
      <p:ext uri="{BB962C8B-B14F-4D97-AF65-F5344CB8AC3E}">
        <p14:creationId xmlns:p14="http://schemas.microsoft.com/office/powerpoint/2010/main" val="1174663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96666B-E557-4B64-8383-34F591D4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72ABC-2E93-46DB-A3E9-1CF79F71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Verifikasi mengubah pendaftaran dari sekadar lengkap menjadi siap diproses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7D970-1652-4377-9ED7-1C634920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C0F1E-5F2F-44FD-B63D-3D26DF94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46128-4E7C-4E59-B888-62368C08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026"/>
                </a:solidFill>
              </a:defRPr>
            </a:pPr>
            <a:r>
              <a:rPr sz="1950" b="1">
                <a:solidFill>
                  <a:srgbClr val="071026"/>
                </a:solidFill>
              </a:rPr>
              <a:t>Yang dilihat koordinator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0FD86-6305-4647-A997-0EEB7D92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07948-EEE2-4AF1-8A68-FBEAFE1F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Nomor pendaftaran dan periode.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1C3CC-07F9-46C8-86B3-4BCB589C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1A125-FF6C-4526-AE2A-DB2D3C38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623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Daftar dokumen wajib.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1084E-7262-4EC0-BBE9-8B7F3379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A66E6-4FC8-4B31-A14C-39B5FEEA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Catatan revisi atau alasan penolakan.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5527C-6BFB-466E-A4AD-473565B9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407A2-897A-4D09-897C-5D2ED806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053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Tombol setujui, revisi, atau tolak.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519B1-B865-43C3-9111-F17853A0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F4D5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9B6FE-FA2C-45BB-BB16-187D2813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026"/>
                </a:solidFill>
              </a:defRPr>
            </a:pPr>
            <a:r>
              <a:rPr sz="1950" b="1">
                <a:solidFill>
                  <a:srgbClr val="071026"/>
                </a:solidFill>
              </a:rPr>
              <a:t>Dampak ke mahasiswa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5810B-2992-41A4-A64A-868EDE71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0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5AF09-BEAD-4C87-885E-85E01E62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3448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Jika disetujui, mahasiswa masuk antrian tahap berikutnya.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3BE31-49ED-48BC-847F-3C991E76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F59EF-5700-4C78-8CC2-6DA49D49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48050"/>
            <a:ext cx="3448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Jika revisi, mahasiswa perlu memperbaiki berkas.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7FDE7-6607-41B6-BB3D-128FE7B7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57B1C-B15B-44A7-8368-0AB1C477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71950"/>
            <a:ext cx="3448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Jika ditolak, mahasiswa harus menghubungi admin atau koordinator.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87572-5A69-4E7B-9A0A-D7619580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08</a:t>
            </a:r>
          </a:p>
        </p:txBody>
      </p:sp>
    </p:spTree>
    <p:extLst>
      <p:ext uri="{BB962C8B-B14F-4D97-AF65-F5344CB8AC3E}">
        <p14:creationId xmlns:p14="http://schemas.microsoft.com/office/powerpoint/2010/main" val="242133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8E1396-CEBC-4952-B8BD-7EFBA253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A238A-0B0D-4D1C-9617-72256911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Pemilihan tempat mengikuti jadwal, kuota, dan status periode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5EED7-9E25-4381-93C9-7645D8DE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C6A57-2953-49DE-97A0-B3E1B529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71026"/>
                </a:solidFill>
              </a:defRPr>
            </a:pPr>
            <a:r>
              <a:rPr sz="1800" b="0">
                <a:solidFill>
                  <a:srgbClr val="071026"/>
                </a:solidFill>
              </a:rPr>
              <a:t>War ticket dibuka sesuai jadwal pemilihan dalam periode KP. Mahasiswa hanya bisa memilih ketika jadwal aktif dan kuota tempat tersedia.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47AF9-C00B-4457-B86E-E515FA75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9527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E4793-C01A-43CE-932C-D7B43233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67301-E6C5-44E7-8C4E-B4BCF17A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337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6292B-1425-4B9B-9B63-3126062F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Jadwal aktif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5DC15-76D3-43EF-9F42-6D88A4B1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84"/>
                </a:solidFill>
              </a:defRPr>
            </a:pPr>
            <a:r>
              <a:rPr sz="1275" b="0">
                <a:solidFill>
                  <a:srgbClr val="536784"/>
                </a:solidFill>
              </a:rPr>
              <a:t>Sistem memeriksa tanggal dan jam pemilihan.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9C108-7891-40D7-80E3-69D5BD35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38450"/>
            <a:ext cx="29527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95251-86EE-43AA-9147-2180F14B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B72"/>
          </a:solidFill>
          <a:ln xmlns:a="http://schemas.openxmlformats.org/drawingml/2006/main" w="0">
            <a:solidFill>
              <a:srgbClr val="0D9B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88A2B-0F66-4A67-8A83-D8BFC9BF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337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B39F5-C99F-4D54-A1C5-E26BFADB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Tempat tersedia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D5F3D-58A0-4CC6-8B7B-F597096D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6240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84"/>
                </a:solidFill>
              </a:defRPr>
            </a:pPr>
            <a:r>
              <a:rPr sz="1275" b="0">
                <a:solidFill>
                  <a:srgbClr val="536784"/>
                </a:solidFill>
              </a:rPr>
              <a:t>Mahasiswa melihat tempat yang masih punya sisa kuota.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6CE59-51A4-488E-8C84-22407C7D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29527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33D1C-946F-4ADB-A1D5-016A9747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4800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C8D98-99DC-4503-A01F-DC7DEE6B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337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98C20-49C3-4883-BB23-1A410D0F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433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Pilihan terkunci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AB893-87E2-4B5E-B5B5-5C284E42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6240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84"/>
                </a:solidFill>
              </a:defRPr>
            </a:pPr>
            <a:r>
              <a:rPr sz="1275" b="0">
                <a:solidFill>
                  <a:srgbClr val="536784"/>
                </a:solidFill>
              </a:rPr>
              <a:t>Setelah berhasil memilih, kuota berkurang dan status mahasiswa tercatat.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A4EAA-7ED0-46D7-B054-4BA1973B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9296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BF6"/>
          </a:solidFill>
          <a:ln xmlns:a="http://schemas.openxmlformats.org/drawingml/2006/main" w="9525">
            <a:solidFill>
              <a:srgbClr val="A7E7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0C3F5-7B47-4ED1-9417-122646E1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62550"/>
            <a:ext cx="880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9B72"/>
                </a:solidFill>
              </a:defRPr>
            </a:pPr>
            <a:r>
              <a:rPr sz="1425" b="1">
                <a:solidFill>
                  <a:srgbClr val="0D9B72"/>
                </a:solidFill>
              </a:rPr>
              <a:t>Catatan demo: gunakan timezone Asia/Jakarta agar jam di UI sama dengan ekspektasi WIB.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3E383-28A9-4C45-B1BB-40B67E89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09</a:t>
            </a:r>
          </a:p>
        </p:txBody>
      </p:sp>
    </p:spTree>
    <p:extLst>
      <p:ext uri="{BB962C8B-B14F-4D97-AF65-F5344CB8AC3E}">
        <p14:creationId xmlns:p14="http://schemas.microsoft.com/office/powerpoint/2010/main" val="655522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359F75-F534-497C-B9C3-C9B7CAC6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D4C67-FA89-4412-85FB-A129CF7E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Penempatan memperlihatkan tempat KP dan pembimbing mahasiswa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E3962-861F-4406-81C5-75DD942A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59EE5-CCA4-4BF6-821E-6023DB69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1026"/>
                </a:solidFill>
              </a:defRPr>
            </a:pPr>
            <a:r>
              <a:rPr sz="1725" b="0">
                <a:solidFill>
                  <a:srgbClr val="071026"/>
                </a:solidFill>
              </a:rPr>
              <a:t>Setelah mahasiswa memilih tempat atau ditempatkan manual oleh koordinator, halaman penempatan menjadi rujukan utama untuk tempat, pembimbing dalam, dan pembimbing lapangan.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DC096-781D-4BFA-99A5-DD61BD7A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0668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BE71F-8EF4-40F6-AD8E-98EE08FE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596"/>
                </a:solidFill>
              </a:defRPr>
            </a:pPr>
            <a:r>
              <a:rPr sz="1350" b="1">
                <a:solidFill>
                  <a:srgbClr val="008596"/>
                </a:solidFill>
              </a:rPr>
              <a:t>Mahasiswa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4A3D0-0681-4925-AA09-29B62E63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026"/>
                </a:solidFill>
              </a:defRPr>
            </a:pPr>
            <a:r>
              <a:rPr sz="1575" b="1">
                <a:solidFill>
                  <a:srgbClr val="071026"/>
                </a:solidFill>
              </a:rPr>
              <a:t>Nama dan NIM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9D513-510E-4455-A4CD-BABA3858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596"/>
                </a:solidFill>
              </a:defRPr>
            </a:pPr>
            <a:r>
              <a:rPr sz="1350" b="1">
                <a:solidFill>
                  <a:srgbClr val="008596"/>
                </a:solidFill>
              </a:rPr>
              <a:t>Tempat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57EDB-A61B-434F-A395-CB490F8E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766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026"/>
                </a:solidFill>
              </a:defRPr>
            </a:pPr>
            <a:r>
              <a:rPr sz="1575" b="1">
                <a:solidFill>
                  <a:srgbClr val="071026"/>
                </a:solidFill>
              </a:rPr>
              <a:t>Instansi KP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16E3F-523A-481C-B23F-1B5873EA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813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596"/>
                </a:solidFill>
              </a:defRPr>
            </a:pPr>
            <a:r>
              <a:rPr sz="1350" b="1">
                <a:solidFill>
                  <a:srgbClr val="008596"/>
                </a:solidFill>
              </a:rPr>
              <a:t>Pembimbing Dalam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FC7C2-5784-4155-A4ED-F856F5E0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766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026"/>
                </a:solidFill>
              </a:defRPr>
            </a:pPr>
            <a:r>
              <a:rPr sz="1575" b="1">
                <a:solidFill>
                  <a:srgbClr val="071026"/>
                </a:solidFill>
              </a:rPr>
              <a:t>Dosen internal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B4970-26C6-46C5-90F8-B3D4FD0D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813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596"/>
                </a:solidFill>
              </a:defRPr>
            </a:pPr>
            <a:r>
              <a:rPr sz="1350" b="1">
                <a:solidFill>
                  <a:srgbClr val="008596"/>
                </a:solidFill>
              </a:rPr>
              <a:t>Pembimbing Lapangan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49E04-D197-4061-9277-AEA8D46D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026"/>
                </a:solidFill>
              </a:defRPr>
            </a:pPr>
            <a:r>
              <a:rPr sz="1575" b="1">
                <a:solidFill>
                  <a:srgbClr val="071026"/>
                </a:solidFill>
              </a:rPr>
              <a:t>Pembimbing dari tempat KP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04D8F-B1FC-4C16-86E0-45A4C71C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813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596"/>
                </a:solidFill>
              </a:defRPr>
            </a:pPr>
            <a:r>
              <a:rPr sz="1350" b="1">
                <a:solidFill>
                  <a:srgbClr val="008596"/>
                </a:solidFill>
              </a:rPr>
              <a:t>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93760-70AC-4BE2-81F1-87B1D3EF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766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026"/>
                </a:solidFill>
              </a:defRPr>
            </a:pPr>
            <a:r>
              <a:rPr sz="1575" b="1">
                <a:solidFill>
                  <a:srgbClr val="071026"/>
                </a:solidFill>
              </a:rPr>
              <a:t>Aktif, menunggu, atau dibatalkan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6BC47-823C-4A3C-A96D-986EBC07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10</a:t>
            </a:r>
          </a:p>
        </p:txBody>
      </p:sp>
    </p:spTree>
    <p:extLst>
      <p:ext uri="{BB962C8B-B14F-4D97-AF65-F5344CB8AC3E}">
        <p14:creationId xmlns:p14="http://schemas.microsoft.com/office/powerpoint/2010/main" val="7245842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9E9720-A245-469D-A92A-DA7310E2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2CBB6-B3C2-4D30-A2C5-894168F4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Logbook mencatat kegiatan harian dan menjadi bahan validasi pembimbing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87FED-96BB-474E-8A2C-060C05C2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4B75D-A47D-4999-B86D-A95759F1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1026"/>
                </a:solidFill>
              </a:defRPr>
            </a:pPr>
            <a:r>
              <a:rPr sz="1725" b="0">
                <a:solidFill>
                  <a:srgbClr val="071026"/>
                </a:solidFill>
              </a:rPr>
              <a:t>Mahasiswa menulis aktivitas harian selama KP. Pembimbing lapangan dan pembimbing dalam dapat memvalidasi sesuai kewenangan yang disepakati.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9DCC7-3BDD-48A1-93DE-CA0AC70B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3143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9532F-22BD-4ED9-88EB-606E8FFE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8596"/>
          </a:solidFill>
          <a:ln xmlns:a="http://schemas.openxmlformats.org/drawingml/2006/main" w="0">
            <a:solidFill>
              <a:srgbClr val="00859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DEED0-C055-40A4-8F3C-2F4E7135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57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9E713-4699-41D0-B85D-3FA9B66D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Isi kegiatan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BFA61-3F83-4B52-8267-EDCA6DBF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84"/>
                </a:solidFill>
              </a:defRPr>
            </a:pPr>
            <a:r>
              <a:rPr sz="1275" b="0">
                <a:solidFill>
                  <a:srgbClr val="536784"/>
                </a:solidFill>
              </a:rPr>
              <a:t>Tanggal, judul, uraian kegiatan, dan bukti pendukung bila diperlukan.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20084-DF5B-40BE-96F3-B936D324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62250"/>
            <a:ext cx="3143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867DC-BD22-433C-8C03-CCD9B9A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7180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B72"/>
          </a:solidFill>
          <a:ln xmlns:a="http://schemas.openxmlformats.org/drawingml/2006/main" w="0">
            <a:solidFill>
              <a:srgbClr val="0D9B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5F045-97C5-47E8-B4BD-61CE74BD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32D21-E50F-4447-A463-B125BF97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671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Ajukan validasi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C6E11-6296-4058-AEEF-CBB2AA5D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84"/>
                </a:solidFill>
              </a:defRPr>
            </a:pPr>
            <a:r>
              <a:rPr sz="1275" b="0">
                <a:solidFill>
                  <a:srgbClr val="536784"/>
                </a:solidFill>
              </a:rPr>
              <a:t>Mahasiswa mengirim logbook agar masuk daftar validasi pembimbing.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2E03B-5CA0-4EF4-9A66-0EA06076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62250"/>
            <a:ext cx="3143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23539-3CFF-4C94-8FF5-09C73793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438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7B2CD-55CD-45C2-9D3C-A5B780B1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57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C3C55-4C53-4857-9238-63F38FEB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26"/>
                </a:solidFill>
              </a:defRPr>
            </a:pPr>
            <a:r>
              <a:rPr sz="1800" b="1">
                <a:solidFill>
                  <a:srgbClr val="071026"/>
                </a:solidFill>
              </a:rPr>
              <a:t>Tindak lanjut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8122F-A3C4-4391-8A12-069A09C0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84"/>
                </a:solidFill>
              </a:defRPr>
            </a:pPr>
            <a:r>
              <a:rPr sz="1275" b="0">
                <a:solidFill>
                  <a:srgbClr val="536784"/>
                </a:solidFill>
              </a:rPr>
              <a:t>Status menjadi disetujui, revisi, atau menunggu validasi.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1A39A-9788-4D95-8F29-C886C5A5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967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8596"/>
                </a:solidFill>
              </a:defRPr>
            </a:pPr>
            <a:r>
              <a:rPr sz="1575" b="1">
                <a:solidFill>
                  <a:srgbClr val="008596"/>
                </a:solidFill>
              </a:rPr>
              <a:t>Best practice: tampilan pembimbing sebaiknya diringkas per mahasiswa, lalu rincian logbook dibuka saat nama mahasiswa diklik.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AAAC3-73D5-4680-B80F-3AA24DF6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11</a:t>
            </a:r>
          </a:p>
        </p:txBody>
      </p:sp>
    </p:spTree>
    <p:extLst>
      <p:ext uri="{BB962C8B-B14F-4D97-AF65-F5344CB8AC3E}">
        <p14:creationId xmlns:p14="http://schemas.microsoft.com/office/powerpoint/2010/main" val="7639357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2821B2-B28C-49A7-9C4F-CA1C38D5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D7D4F-7426-45C4-B1A6-E7B02D96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Laporan akhir, sidang, dan nilai menutup proses akademik mahasiswa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52B44-84C3-43B6-9BC8-91F8C0CF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33F3C-4344-41E9-96C0-1FE98ECB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3143250" cy="32575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4051D-BDE4-48D3-B818-55D6C0E0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026"/>
                </a:solidFill>
              </a:defRPr>
            </a:pPr>
            <a:r>
              <a:rPr sz="2100" b="1">
                <a:solidFill>
                  <a:srgbClr val="071026"/>
                </a:solidFill>
              </a:rPr>
              <a:t>Laporan Akhir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A9A26-0C37-4E5B-A351-161028F3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784"/>
                </a:solidFill>
              </a:defRPr>
            </a:pPr>
            <a:r>
              <a:rPr sz="1575" b="0">
                <a:solidFill>
                  <a:srgbClr val="536784"/>
                </a:solidFill>
              </a:rPr>
              <a:t>Mahasiswa mengunggah laporan final dan menunggu review atau persetujuan.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F82ED-11F4-4D59-8496-0268B6E4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3143250" cy="32575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65F28-BEF3-4BCE-A259-A1419F30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026"/>
                </a:solidFill>
              </a:defRPr>
            </a:pPr>
            <a:r>
              <a:rPr sz="2100" b="1">
                <a:solidFill>
                  <a:srgbClr val="071026"/>
                </a:solidFill>
              </a:rPr>
              <a:t>Sidang KP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59B94-2EF3-4BCB-A4EE-4EB2B02E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670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784"/>
                </a:solidFill>
              </a:defRPr>
            </a:pPr>
            <a:r>
              <a:rPr sz="1575" b="0">
                <a:solidFill>
                  <a:srgbClr val="536784"/>
                </a:solidFill>
              </a:rPr>
              <a:t>Jadwal sidang, penguji, dan berita acara menjadi bagian administrasi akademik.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DE368-C1BC-4765-A86F-0ED1DC07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3143250" cy="32575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9B429-C5B2-4F15-9B9D-083C503A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026"/>
                </a:solidFill>
              </a:defRPr>
            </a:pPr>
            <a:r>
              <a:rPr sz="2100" b="1">
                <a:solidFill>
                  <a:srgbClr val="071026"/>
                </a:solidFill>
              </a:rPr>
              <a:t>Nilai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05CD3-4F91-484C-8215-801D77E8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784"/>
                </a:solidFill>
              </a:defRPr>
            </a:pPr>
            <a:r>
              <a:rPr sz="1575" b="0">
                <a:solidFill>
                  <a:srgbClr val="536784"/>
                </a:solidFill>
              </a:rPr>
              <a:t>Mahasiswa melihat nilai setelah komponen penilaian selesai dan dipublikasikan.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87339-8BB5-4D95-BB47-3550A061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12</a:t>
            </a:r>
          </a:p>
        </p:txBody>
      </p:sp>
    </p:spTree>
    <p:extLst>
      <p:ext uri="{BB962C8B-B14F-4D97-AF65-F5344CB8AC3E}">
        <p14:creationId xmlns:p14="http://schemas.microsoft.com/office/powerpoint/2010/main" val="9693543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2F776-0179-4490-BB65-3852B3EB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10CE0-5A67-4871-B6A6-CC16B7B0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Status membantu mahasiswa tahu apa yang harus dilakukan berikutnya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E37EB-4F08-4317-9C68-53AEFB59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55215-C404-4FBB-A940-6176DB21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97B3F-E397-418C-924F-B5AA4C31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71650"/>
            <a:ext cx="1295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EAF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B6DD2-2875-41A1-8845-B50D711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28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784"/>
                </a:solidFill>
              </a:defRPr>
            </a:pPr>
            <a:r>
              <a:rPr sz="1125" b="1">
                <a:solidFill>
                  <a:srgbClr val="536784"/>
                </a:solidFill>
              </a:rPr>
              <a:t>Draft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9CF22-DB76-4D9B-9BD8-8A5A5C19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Lengkapi data atau berkas yang masih kosong.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CD27B-41ED-4DD2-98E0-BE84ED31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ED0D8-FE0A-4835-A92B-4A2D30F1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1295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EAF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65A35-5101-46FD-9F40-D2B07B40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8596"/>
                </a:solidFill>
              </a:defRPr>
            </a:pPr>
            <a:r>
              <a:rPr sz="1125" b="1">
                <a:solidFill>
                  <a:srgbClr val="008596"/>
                </a:solidFill>
              </a:rPr>
              <a:t>Menunggu Verifikasi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707D5-C127-4120-8444-B11755CC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Tunggu koordinator memeriksa dokumen.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8D3D6-3667-4E4A-9D87-BE9C59E1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55B6C-3264-46E1-87D3-66FD0608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1295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FFF6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17A4D-027C-4005-AFBE-4AC3B6EB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6B00"/>
                </a:solidFill>
              </a:defRPr>
            </a:pPr>
            <a:r>
              <a:rPr sz="1125" b="1">
                <a:solidFill>
                  <a:srgbClr val="C76B00"/>
                </a:solidFill>
              </a:rPr>
              <a:t>Revisi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ED7C9-3EE2-4841-9675-03EC5CB3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Perbaiki sesuai catatan yang tampil di halaman.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F7F24-33F5-488A-A563-9DFE9E3D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A16D0-A2F4-4077-A451-F02C26F3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1295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BF0"/>
          </a:solidFill>
          <a:ln xmlns:a="http://schemas.openxmlformats.org/drawingml/2006/main" w="9525">
            <a:solidFill>
              <a:srgbClr val="E8FB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E1EA5-BBB7-49DE-BAB1-9A9C74B0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9B72"/>
                </a:solidFill>
              </a:defRPr>
            </a:pPr>
            <a:r>
              <a:rPr sz="1125" b="1">
                <a:solidFill>
                  <a:srgbClr val="0D9B72"/>
                </a:solidFill>
              </a:rPr>
              <a:t>Aktif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8E232-5A19-4C72-8521-F0D5E1CB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Lanjutkan proses KP sesuai modul berikutnya.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34C0B-0650-4F89-BF4A-F7B336E1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D2061-EAB7-495F-9F2C-91669326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43450"/>
            <a:ext cx="1295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EAF0"/>
          </a:solidFill>
          <a:ln xmlns:a="http://schemas.openxmlformats.org/drawingml/2006/main" w="9525">
            <a:solidFill>
              <a:srgbClr val="FF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01E64-484F-4974-BC6E-718555DE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F2447"/>
                </a:solidFill>
              </a:defRPr>
            </a:pPr>
            <a:r>
              <a:rPr sz="1125" b="1">
                <a:solidFill>
                  <a:srgbClr val="CF2447"/>
                </a:solidFill>
              </a:rPr>
              <a:t>Dibatalkan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84346-561F-4A61-8F1F-A012F417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026"/>
                </a:solidFill>
              </a:defRPr>
            </a:pPr>
            <a:r>
              <a:rPr sz="1500" b="0">
                <a:solidFill>
                  <a:srgbClr val="071026"/>
                </a:solidFill>
              </a:rPr>
              <a:t>Hubungi koordinator sebelum memilih atau diproses ulang.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F7ACA-2AAF-4B51-8063-F358B00A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13</a:t>
            </a:r>
          </a:p>
        </p:txBody>
      </p:sp>
    </p:spTree>
    <p:extLst>
      <p:ext uri="{BB962C8B-B14F-4D97-AF65-F5344CB8AC3E}">
        <p14:creationId xmlns:p14="http://schemas.microsoft.com/office/powerpoint/2010/main" val="7552482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31CEAA-9E0F-4E77-B323-12D8885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596"/>
                </a:solidFill>
              </a:defRPr>
            </a:pPr>
            <a:r>
              <a:rPr sz="1050" b="1">
                <a:solidFill>
                  <a:srgbClr val="008596"/>
                </a:solidFill>
              </a:rPr>
              <a:t>SI-KP FARMASI UBP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BD939-F18B-4B0C-B673-17083B96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1026"/>
                </a:solidFill>
              </a:defRPr>
            </a:pPr>
            <a:r>
              <a:rPr sz="2625" b="1">
                <a:solidFill>
                  <a:srgbClr val="071026"/>
                </a:solidFill>
              </a:rPr>
              <a:t>UAT mahasiswa sebaiknya mengecek alur dari awal sampai akhir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D1989-B057-4DAC-9469-FCC4D2CE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F"/>
          </a:solidFill>
          <a:ln xmlns:a="http://schemas.openxmlformats.org/drawingml/2006/main" w="0">
            <a:solidFill>
              <a:srgbClr val="D8E6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40AC2-F618-40F0-97E4-AB6C6384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B72"/>
          </a:solidFill>
          <a:ln xmlns:a="http://schemas.openxmlformats.org/drawingml/2006/main" w="0">
            <a:solidFill>
              <a:srgbClr val="0D9B7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F24A0-C016-469A-8512-A4A168FF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7165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026"/>
                </a:solidFill>
              </a:defRPr>
            </a:pPr>
            <a:r>
              <a:rPr sz="1650" b="0">
                <a:solidFill>
                  <a:srgbClr val="071026"/>
                </a:solidFill>
              </a:rPr>
              <a:t>Login mahasiswa berhasil dan masuk ke dashboard yang benar.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AF9EE-D645-4CD1-A06E-6F6A98A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B72"/>
          </a:solidFill>
          <a:ln xmlns:a="http://schemas.openxmlformats.org/drawingml/2006/main" w="0">
            <a:solidFill>
              <a:srgbClr val="0D9B7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A2433-333A-4BCB-9649-EBE9C011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7650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026"/>
                </a:solidFill>
              </a:defRPr>
            </a:pPr>
            <a:r>
              <a:rPr sz="1650" b="0">
                <a:solidFill>
                  <a:srgbClr val="071026"/>
                </a:solidFill>
              </a:rPr>
              <a:t>Profil menampilkan data Core dan data KP dengan jelas.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90498-6091-4832-A5D2-2678C3E6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B72"/>
          </a:solidFill>
          <a:ln xmlns:a="http://schemas.openxmlformats.org/drawingml/2006/main" w="0">
            <a:solidFill>
              <a:srgbClr val="0D9B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0AADD-9CED-43BB-AFB1-A4C1ACD1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135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026"/>
                </a:solidFill>
              </a:defRPr>
            </a:pPr>
            <a:r>
              <a:rPr sz="1650" b="0">
                <a:solidFill>
                  <a:srgbClr val="071026"/>
                </a:solidFill>
              </a:rPr>
              <a:t>Pendaftaran dan upload berkas berubah status sesuai aksi koordinator.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59F6A-8F61-4DE2-9397-984AAE5E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B72"/>
          </a:solidFill>
          <a:ln xmlns:a="http://schemas.openxmlformats.org/drawingml/2006/main" w="0">
            <a:solidFill>
              <a:srgbClr val="0D9B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7B8EF-175D-44F4-93E6-60A33F07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8620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026"/>
                </a:solidFill>
              </a:defRPr>
            </a:pPr>
            <a:r>
              <a:rPr sz="1650" b="0">
                <a:solidFill>
                  <a:srgbClr val="071026"/>
                </a:solidFill>
              </a:rPr>
              <a:t>Pemilihan tempat hanya aktif pada jadwal WIB yang ditentukan.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01CF7-DB81-4844-98CB-EC7E3B6C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B72"/>
          </a:solidFill>
          <a:ln xmlns:a="http://schemas.openxmlformats.org/drawingml/2006/main" w="0">
            <a:solidFill>
              <a:srgbClr val="0D9B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149E5-007F-4D52-B679-50A904DF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026"/>
                </a:solidFill>
              </a:defRPr>
            </a:pPr>
            <a:r>
              <a:rPr sz="1650" b="0">
                <a:solidFill>
                  <a:srgbClr val="071026"/>
                </a:solidFill>
              </a:rPr>
              <a:t>Penempatan, logbook, laporan, sidang, dan nilai tampil sesuai role dan status.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0DCB0-28F3-4935-A0DE-F76DAFBE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14</a:t>
            </a:r>
          </a:p>
        </p:txBody>
      </p:sp>
    </p:spTree>
    <p:extLst>
      <p:ext uri="{BB962C8B-B14F-4D97-AF65-F5344CB8AC3E}">
        <p14:creationId xmlns:p14="http://schemas.microsoft.com/office/powerpoint/2010/main" val="3617310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E1B0A6-7947-479A-A74C-B920E001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Pesan utama untuk mahasiswa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BCD15-0664-49DF-8560-3EEEA0A2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5E7F0"/>
                </a:solidFill>
              </a:defRPr>
            </a:pPr>
            <a:r>
              <a:rPr sz="2100" b="0">
                <a:solidFill>
                  <a:srgbClr val="D5E7F0"/>
                </a:solidFill>
              </a:rPr>
              <a:t>Gunakan dashboard sebagai pusat kerja, perhatikan status pada setiap modul, dan ikuti catatan revisi bila sistem meminta perbaikan.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E624B-8FCA-4F43-81DF-69439877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10287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9283D"/>
          </a:solidFill>
          <a:ln xmlns:a="http://schemas.openxmlformats.org/drawingml/2006/main" w="9525">
            <a:solidFill>
              <a:srgbClr val="1C6A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2DF6F-127C-4C9C-B13F-409BD42D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Dengan alur yang rapi, mahasiswa tidak perlu menebak langkah berikutnya: sistem menunjukkan apa yang sudah selesai, apa yang tertunda, dan apa yang harus dilakukan.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3DCF7-8D29-4C7C-B8A5-BCCFAC61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72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FE8E2"/>
                </a:solidFill>
              </a:defRPr>
            </a:pPr>
            <a:r>
              <a:rPr sz="1650" b="1">
                <a:solidFill>
                  <a:srgbClr val="7FE8E2"/>
                </a:solidFill>
              </a:rPr>
              <a:t>SI-KP Farmasi UBP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B8B4A-FD39-4928-BAAE-CB8A6D11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784"/>
                </a:solidFill>
              </a:defRPr>
            </a:pPr>
            <a:r>
              <a:rPr sz="975" b="0">
                <a:solidFill>
                  <a:srgbClr val="536784"/>
                </a:solidFill>
              </a:rPr>
              <a:t>Panduan Mahasiswa KP Farmasi | 15</a:t>
            </a:r>
          </a:p>
        </p:txBody>
      </p:sp>
    </p:spTree>
    <p:extLst>
      <p:ext uri="{BB962C8B-B14F-4D97-AF65-F5344CB8AC3E}">
        <p14:creationId xmlns:p14="http://schemas.microsoft.com/office/powerpoint/2010/main" val="1386771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2026-07-03T07:35:15.6110000Z</dcterms:created>
  <dcterms:modified xsi:type="dcterms:W3CDTF">2026-07-03T07:35:15.6110000Z</dcterms:modified>
</coreProperties>
</file>